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Sora" panose="020B0604020202020204" charset="0"/>
      <p:regular r:id="rId13"/>
      <p:bold r:id="rId14"/>
    </p:embeddedFont>
    <p:embeddedFont>
      <p:font typeface="Sora SemiBold" panose="020B0604020202020204" charset="0"/>
      <p:regular r:id="rId15"/>
    </p:embeddedFont>
    <p:embeddedFont>
      <p:font typeface="Source Sans 3" panose="020B0604020202020204" charset="0"/>
      <p:regular r:id="rId16"/>
    </p:embeddedFont>
    <p:embeddedFont>
      <p:font typeface="Source Sans 3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823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5143500"/>
          </a:xfrm>
          <a:prstGeom prst="rect">
            <a:avLst/>
          </a:prstGeom>
          <a:solidFill>
            <a:srgbClr val="1453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53000" y="577850"/>
            <a:ext cx="3810000" cy="284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6750" y="914400"/>
            <a:ext cx="409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78" kern="0" spc="150" dirty="0">
                <a:solidFill>
                  <a:srgbClr val="C2652A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AI AND SUSTAINABILITY INTERNSHIP PROJECT</a:t>
            </a:r>
            <a:endParaRPr lang="en-US" sz="1078" dirty="0"/>
          </a:p>
        </p:txBody>
      </p:sp>
      <p:sp>
        <p:nvSpPr>
          <p:cNvPr id="5" name="Text 2"/>
          <p:cNvSpPr/>
          <p:nvPr/>
        </p:nvSpPr>
        <p:spPr>
          <a:xfrm>
            <a:off x="666750" y="1238250"/>
            <a:ext cx="4095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130" b="1" dirty="0">
                <a:solidFill>
                  <a:srgbClr val="145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GreenRoute AI</a:t>
            </a:r>
            <a:endParaRPr lang="en-US" sz="4130" dirty="0"/>
          </a:p>
        </p:txBody>
      </p:sp>
      <p:sp>
        <p:nvSpPr>
          <p:cNvPr id="6" name="Text 3"/>
          <p:cNvSpPr/>
          <p:nvPr/>
        </p:nvSpPr>
        <p:spPr>
          <a:xfrm>
            <a:off x="666750" y="2133600"/>
            <a:ext cx="409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3346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Transparent Travel Decision Support for Lower-Emission Choices</a:t>
            </a:r>
            <a:endParaRPr lang="en-US" sz="1575" dirty="0"/>
          </a:p>
        </p:txBody>
      </p:sp>
      <p:sp>
        <p:nvSpPr>
          <p:cNvPr id="7" name="Shape 4"/>
          <p:cNvSpPr/>
          <p:nvPr/>
        </p:nvSpPr>
        <p:spPr>
          <a:xfrm>
            <a:off x="666750" y="2838450"/>
            <a:ext cx="685800" cy="28575"/>
          </a:xfrm>
          <a:prstGeom prst="rect">
            <a:avLst/>
          </a:prstGeom>
          <a:solidFill>
            <a:srgbClr val="C2652A"/>
          </a:solidFill>
          <a:ln/>
        </p:spPr>
      </p:sp>
      <p:sp>
        <p:nvSpPr>
          <p:cNvPr id="8" name="Text 5"/>
          <p:cNvSpPr/>
          <p:nvPr/>
        </p:nvSpPr>
        <p:spPr>
          <a:xfrm>
            <a:off x="666750" y="3000375"/>
            <a:ext cx="4095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F1A17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Presented by Arman Gaurav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66750" y="4038600"/>
            <a:ext cx="2019300" cy="438150"/>
          </a:xfrm>
          <a:prstGeom prst="roundRect">
            <a:avLst>
              <a:gd name="adj" fmla="val 17391"/>
            </a:avLst>
          </a:prstGeom>
          <a:solidFill>
            <a:srgbClr val="F1F6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532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SDG 11 · Sustainable Cities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800350" y="4038600"/>
            <a:ext cx="2019300" cy="438150"/>
          </a:xfrm>
          <a:prstGeom prst="roundRect">
            <a:avLst>
              <a:gd name="adj" fmla="val 17391"/>
            </a:avLst>
          </a:prstGeom>
          <a:solidFill>
            <a:srgbClr val="F1F6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532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SDG 13 · Climate Action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51435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488043"/>
            <a:ext cx="666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C2652A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02 — THE PROBLEM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49" y="723900"/>
            <a:ext cx="677182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96" b="1" dirty="0">
                <a:solidFill>
                  <a:srgbClr val="145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Commuters Need Clearer Travel Choices</a:t>
            </a:r>
            <a:endParaRPr lang="en-US" sz="2496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7810500" cy="0"/>
          </a:xfrm>
          <a:prstGeom prst="line">
            <a:avLst/>
          </a:prstGeom>
          <a:noFill/>
          <a:ln w="9525">
            <a:solidFill>
              <a:srgbClr val="DCE5D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66750" y="1504950"/>
            <a:ext cx="3619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13" dirty="0">
                <a:solidFill>
                  <a:srgbClr val="3346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and urban commuters choose travel options using more than environmental impact. Their decisions depend on:</a:t>
            </a:r>
            <a:endParaRPr lang="en-US" sz="1113" dirty="0"/>
          </a:p>
        </p:txBody>
      </p:sp>
      <p:sp>
        <p:nvSpPr>
          <p:cNvPr id="7" name="Shape 5"/>
          <p:cNvSpPr/>
          <p:nvPr/>
        </p:nvSpPr>
        <p:spPr>
          <a:xfrm>
            <a:off x="666750" y="2152650"/>
            <a:ext cx="57150" cy="4191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" y="2152650"/>
            <a:ext cx="3448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A17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Travel time and reliability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6750" y="2724150"/>
            <a:ext cx="57150" cy="4191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" y="2724150"/>
            <a:ext cx="3448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A17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Cost and convenience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6750" y="3295650"/>
            <a:ext cx="57150" cy="4191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" y="3295650"/>
            <a:ext cx="3448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A17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Safety, weather, and walking distance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6750" y="3867150"/>
            <a:ext cx="57150" cy="4191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" y="3867150"/>
            <a:ext cx="3448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A17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Transport availability and delays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62500" y="1504950"/>
            <a:ext cx="3714750" cy="2857500"/>
          </a:xfrm>
          <a:prstGeom prst="roundRect">
            <a:avLst>
              <a:gd name="adj" fmla="val 4667"/>
            </a:avLst>
          </a:prstGeom>
          <a:solidFill>
            <a:srgbClr val="14532D"/>
          </a:solidFill>
          <a:ln/>
        </p:spPr>
      </p:sp>
      <p:sp>
        <p:nvSpPr>
          <p:cNvPr id="16" name="Text 14"/>
          <p:cNvSpPr/>
          <p:nvPr/>
        </p:nvSpPr>
        <p:spPr>
          <a:xfrm>
            <a:off x="5048250" y="1790700"/>
            <a:ext cx="3143250" cy="170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CC7A9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48250" y="2092981"/>
            <a:ext cx="3143250" cy="198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63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“Students and urban commuters need a transparent way to compare travel options because choosing a lower-emission route depends not only on carbon impact, but also on time, affordability, reliability, safety, weather, walking distance, and real-world availability.”</a:t>
            </a:r>
            <a:endParaRPr lang="en-US" sz="116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51435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495300"/>
            <a:ext cx="666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C2652A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03 — PROJECT GOAL AND TARGET USERS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23900"/>
            <a:ext cx="666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5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GreenRoute AI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7810500" cy="0"/>
          </a:xfrm>
          <a:prstGeom prst="line">
            <a:avLst/>
          </a:prstGeom>
          <a:noFill/>
          <a:ln w="9525">
            <a:solidFill>
              <a:srgbClr val="DCE5D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66750" y="1447800"/>
            <a:ext cx="781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6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GreenRoute AI helps users compare practical travel options and understand the trade-offs between convenience and lower estimated emissions.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6750" y="203835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2E7D5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TARGET USERS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6750" y="2305050"/>
            <a:ext cx="3810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76200" indent="-76200" algn="l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travelling to college</a:t>
            </a:r>
            <a:endParaRPr lang="en-US" sz="1200" dirty="0"/>
          </a:p>
          <a:p>
            <a:pPr marL="76200" indent="-76200" algn="l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Urban and office commuters</a:t>
            </a:r>
            <a:endParaRPr lang="en-US" sz="1200" dirty="0"/>
          </a:p>
          <a:p>
            <a:pPr marL="76200" indent="-76200" algn="l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Bus, metro, bike, private-vehicle, and walking users</a:t>
            </a:r>
            <a:endParaRPr lang="en-US" sz="1200" dirty="0"/>
          </a:p>
          <a:p>
            <a:pPr marL="76200" indent="-76200" algn="l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Nearby commuters for whom walking may be practical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10125" y="1905000"/>
            <a:ext cx="3667125" cy="2000250"/>
          </a:xfrm>
          <a:prstGeom prst="roundRect">
            <a:avLst>
              <a:gd name="adj" fmla="val 6667"/>
            </a:avLst>
          </a:prstGeom>
          <a:solidFill>
            <a:srgbClr val="F1F6F2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57775" y="2152650"/>
            <a:ext cx="3171825" cy="169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C265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HOW MIGHT WE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57775" y="2434828"/>
            <a:ext cx="3171825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4532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“How might we help commuters choose a practical lower-emission travel option while clearly showing trade-offs, local constraints, and the uncertainty behind route and emissions estimates?”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666750" y="4095750"/>
            <a:ext cx="1447800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E0D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4532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2228850" y="4095750"/>
            <a:ext cx="1447800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E0D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4532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Metro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790950" y="4095750"/>
            <a:ext cx="1447800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E0D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4532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Bike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353050" y="4095750"/>
            <a:ext cx="1447800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E0D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4532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Private vehicle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915150" y="4095750"/>
            <a:ext cx="1447800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E0D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4532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Walking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51435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495300"/>
            <a:ext cx="666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C2652A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04 — SDG ALIGNMENT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23900"/>
            <a:ext cx="666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5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Sustainability Impact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7810500" cy="0"/>
          </a:xfrm>
          <a:prstGeom prst="line">
            <a:avLst/>
          </a:prstGeom>
          <a:noFill/>
          <a:ln w="9525">
            <a:solidFill>
              <a:srgbClr val="DCE5D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66750" y="1485900"/>
            <a:ext cx="3810000" cy="2190750"/>
          </a:xfrm>
          <a:prstGeom prst="roundRect">
            <a:avLst>
              <a:gd name="adj" fmla="val 6087"/>
            </a:avLst>
          </a:prstGeom>
          <a:solidFill>
            <a:srgbClr val="14532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3550"/>
            <a:ext cx="3314700" cy="16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CC7A9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PRIMARY SDG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997287"/>
            <a:ext cx="3314700" cy="489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SDG 11 — Sustainable Cities and Communities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581275"/>
            <a:ext cx="33147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9056" indent="-69056" algn="l">
              <a:lnSpc>
                <a:spcPts val="1631"/>
              </a:lnSpc>
              <a:buSzPct val="100000"/>
              <a:buChar char="•"/>
            </a:pPr>
            <a:r>
              <a:rPr lang="en-US" sz="1088" dirty="0">
                <a:solidFill>
                  <a:srgbClr val="DDEB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Supports informed use of lower-emission travel options.</a:t>
            </a:r>
            <a:endParaRPr lang="en-US" sz="1088" dirty="0"/>
          </a:p>
          <a:p>
            <a:pPr marL="69056" indent="-69056" algn="l">
              <a:lnSpc>
                <a:spcPts val="1631"/>
              </a:lnSpc>
              <a:buSzPct val="100000"/>
              <a:buChar char="•"/>
            </a:pPr>
            <a:r>
              <a:rPr lang="en-US" sz="1088" dirty="0">
                <a:solidFill>
                  <a:srgbClr val="DDEB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Encourages practical consideration of public transport, metro travel, and walking.</a:t>
            </a:r>
            <a:endParaRPr lang="en-US" sz="1088" dirty="0"/>
          </a:p>
        </p:txBody>
      </p:sp>
      <p:sp>
        <p:nvSpPr>
          <p:cNvPr id="10" name="Shape 8"/>
          <p:cNvSpPr/>
          <p:nvPr/>
        </p:nvSpPr>
        <p:spPr>
          <a:xfrm>
            <a:off x="4667250" y="1485900"/>
            <a:ext cx="3810000" cy="2190750"/>
          </a:xfrm>
          <a:prstGeom prst="roundRect">
            <a:avLst>
              <a:gd name="adj" fmla="val 6087"/>
            </a:avLst>
          </a:prstGeom>
          <a:solidFill>
            <a:srgbClr val="F1F6F2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4900" y="1733550"/>
            <a:ext cx="3314700" cy="16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C265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SECONDARY SDG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14900" y="1997287"/>
            <a:ext cx="3314700" cy="489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4532D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SDG 13 — Climate Action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14900" y="2581275"/>
            <a:ext cx="33147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9056" indent="-69056" algn="l">
              <a:lnSpc>
                <a:spcPts val="1631"/>
              </a:lnSpc>
              <a:buSzPct val="100000"/>
              <a:buChar char="•"/>
            </a:pPr>
            <a:r>
              <a:rPr lang="en-US" sz="1088" dirty="0">
                <a:solidFill>
                  <a:srgbClr val="3346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Makes estimated CO₂ impact visible during travel decisions.</a:t>
            </a:r>
            <a:endParaRPr lang="en-US" sz="1088" dirty="0"/>
          </a:p>
          <a:p>
            <a:pPr marL="69056" indent="-69056" algn="l">
              <a:lnSpc>
                <a:spcPts val="1631"/>
              </a:lnSpc>
              <a:buSzPct val="100000"/>
              <a:buChar char="•"/>
            </a:pPr>
            <a:r>
              <a:rPr lang="en-US" sz="1088" dirty="0">
                <a:solidFill>
                  <a:srgbClr val="3346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Encourages users to consider lower-emission alternatives when practical.</a:t>
            </a:r>
            <a:endParaRPr lang="en-US" sz="1088" dirty="0"/>
          </a:p>
        </p:txBody>
      </p:sp>
      <p:sp>
        <p:nvSpPr>
          <p:cNvPr id="14" name="Shape 12"/>
          <p:cNvSpPr/>
          <p:nvPr/>
        </p:nvSpPr>
        <p:spPr>
          <a:xfrm>
            <a:off x="666750" y="3924300"/>
            <a:ext cx="7810500" cy="723900"/>
          </a:xfrm>
          <a:prstGeom prst="roundRect">
            <a:avLst>
              <a:gd name="adj" fmla="val 15789"/>
            </a:avLst>
          </a:prstGeom>
          <a:solidFill>
            <a:srgbClr val="FDF3EC"/>
          </a:solidFill>
          <a:ln/>
        </p:spPr>
      </p:sp>
      <p:sp>
        <p:nvSpPr>
          <p:cNvPr id="15" name="Shape 13"/>
          <p:cNvSpPr/>
          <p:nvPr/>
        </p:nvSpPr>
        <p:spPr>
          <a:xfrm>
            <a:off x="666750" y="3924300"/>
            <a:ext cx="47625" cy="723900"/>
          </a:xfrm>
          <a:prstGeom prst="roundRect">
            <a:avLst>
              <a:gd name="adj" fmla="val 60000"/>
            </a:avLst>
          </a:prstGeom>
          <a:solidFill>
            <a:srgbClr val="C2652A"/>
          </a:solidFill>
          <a:ln/>
        </p:spPr>
      </p:sp>
      <p:sp>
        <p:nvSpPr>
          <p:cNvPr id="16" name="Text 14"/>
          <p:cNvSpPr/>
          <p:nvPr/>
        </p:nvSpPr>
        <p:spPr>
          <a:xfrm>
            <a:off x="895350" y="4095750"/>
            <a:ext cx="7334250" cy="14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C265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IMPORTANT PRINCIPLE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5350" y="4277967"/>
            <a:ext cx="7334250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Lower emissions matter, but users must also consider safety, accessibility, weather, and personal constraints.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51435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495300"/>
            <a:ext cx="666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C2652A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05 — DESIGN THINKING PROCESS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23900"/>
            <a:ext cx="666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5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From Research to Working MVP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7810500" cy="0"/>
          </a:xfrm>
          <a:prstGeom prst="line">
            <a:avLst/>
          </a:prstGeom>
          <a:noFill/>
          <a:ln w="9525">
            <a:solidFill>
              <a:srgbClr val="DCE5D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66750" y="1562100"/>
            <a:ext cx="1074370" cy="43815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Empathize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09334" y="1562100"/>
            <a:ext cx="13642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C7A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3976" y="1562100"/>
            <a:ext cx="1074370" cy="43815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Define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56560" y="1562100"/>
            <a:ext cx="13642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C7A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61202" y="1562100"/>
            <a:ext cx="1074370" cy="43815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Prototype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03786" y="1562100"/>
            <a:ext cx="13642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C7A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8428" y="1562100"/>
            <a:ext cx="1074370" cy="43815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51012" y="1562100"/>
            <a:ext cx="13642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C7A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55654" y="1562100"/>
            <a:ext cx="1074370" cy="43815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Improve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98238" y="1562100"/>
            <a:ext cx="13642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C7A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2880" y="1562100"/>
            <a:ext cx="1074370" cy="438150"/>
          </a:xfrm>
          <a:prstGeom prst="roundRect">
            <a:avLst>
              <a:gd name="adj" fmla="val 50000"/>
            </a:avLst>
          </a:prstGeom>
          <a:solidFill>
            <a:srgbClr val="C2652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6750" y="2362200"/>
            <a:ext cx="1828800" cy="1905000"/>
          </a:xfrm>
          <a:prstGeom prst="roundRect">
            <a:avLst>
              <a:gd name="adj" fmla="val 6250"/>
            </a:avLst>
          </a:prstGeom>
          <a:solidFill>
            <a:srgbClr val="F1F6F2"/>
          </a:solidFill>
          <a:ln/>
        </p:spPr>
      </p:sp>
      <p:sp>
        <p:nvSpPr>
          <p:cNvPr id="18" name="Text 16"/>
          <p:cNvSpPr/>
          <p:nvPr/>
        </p:nvSpPr>
        <p:spPr>
          <a:xfrm>
            <a:off x="857250" y="25527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4532D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Empathize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7250" y="2857500"/>
            <a:ext cx="144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346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Five real commuters shared how they choose travel options.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47950" y="2362200"/>
            <a:ext cx="1828800" cy="1905000"/>
          </a:xfrm>
          <a:prstGeom prst="roundRect">
            <a:avLst>
              <a:gd name="adj" fmla="val 6250"/>
            </a:avLst>
          </a:prstGeom>
          <a:solidFill>
            <a:srgbClr val="F1F6F2"/>
          </a:solidFill>
          <a:ln/>
        </p:spPr>
      </p:sp>
      <p:sp>
        <p:nvSpPr>
          <p:cNvPr id="21" name="Text 19"/>
          <p:cNvSpPr/>
          <p:nvPr/>
        </p:nvSpPr>
        <p:spPr>
          <a:xfrm>
            <a:off x="2838450" y="25527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4532D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Define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8450" y="2857500"/>
            <a:ext cx="144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346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Focused on transparent route comparison rather than forcing the greenest option.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29150" y="2362200"/>
            <a:ext cx="1828800" cy="1905000"/>
          </a:xfrm>
          <a:prstGeom prst="roundRect">
            <a:avLst>
              <a:gd name="adj" fmla="val 6250"/>
            </a:avLst>
          </a:prstGeom>
          <a:solidFill>
            <a:srgbClr val="F1F6F2"/>
          </a:solidFill>
          <a:ln/>
        </p:spPr>
      </p:sp>
      <p:sp>
        <p:nvSpPr>
          <p:cNvPr id="24" name="Text 22"/>
          <p:cNvSpPr/>
          <p:nvPr/>
        </p:nvSpPr>
        <p:spPr>
          <a:xfrm>
            <a:off x="4819650" y="25527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4532D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19650" y="2857500"/>
            <a:ext cx="144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346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GreenRoute AI interface was created in Stitch by Google.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10350" y="2362200"/>
            <a:ext cx="1828800" cy="1905000"/>
          </a:xfrm>
          <a:prstGeom prst="roundRect">
            <a:avLst>
              <a:gd name="adj" fmla="val 6250"/>
            </a:avLst>
          </a:prstGeom>
          <a:solidFill>
            <a:srgbClr val="F1F6F2"/>
          </a:solidFill>
          <a:ln/>
        </p:spPr>
      </p:sp>
      <p:sp>
        <p:nvSpPr>
          <p:cNvPr id="27" name="Text 25"/>
          <p:cNvSpPr/>
          <p:nvPr/>
        </p:nvSpPr>
        <p:spPr>
          <a:xfrm>
            <a:off x="6800850" y="25527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4532D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Test &amp; Improve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00850" y="2857500"/>
            <a:ext cx="144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3346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Feedback led to clearer trade-offs, Walking support, estimate explanations, and responsible-AI notes.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6750" y="4419600"/>
            <a:ext cx="7810500" cy="457200"/>
          </a:xfrm>
          <a:prstGeom prst="roundRect">
            <a:avLst>
              <a:gd name="adj" fmla="val 25000"/>
            </a:avLst>
          </a:prstGeom>
          <a:solidFill>
            <a:srgbClr val="14532D"/>
          </a:solidFill>
          <a:ln/>
        </p:spPr>
      </p:sp>
      <p:sp>
        <p:nvSpPr>
          <p:cNvPr id="30" name="Text 28"/>
          <p:cNvSpPr/>
          <p:nvPr/>
        </p:nvSpPr>
        <p:spPr>
          <a:xfrm>
            <a:off x="895350" y="4552950"/>
            <a:ext cx="7334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— a working HTML, CSS, and JavaScript MVP was developed.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51435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495300"/>
            <a:ext cx="666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C2652A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06 — USER RESEARCH FINDINGS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23900"/>
            <a:ext cx="666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5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Five Commuters Told Us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7810500" cy="0"/>
          </a:xfrm>
          <a:prstGeom prst="line">
            <a:avLst/>
          </a:prstGeom>
          <a:noFill/>
          <a:ln w="9525">
            <a:solidFill>
              <a:srgbClr val="DCE5D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66750" y="1485900"/>
            <a:ext cx="2095500" cy="2762250"/>
          </a:xfrm>
          <a:prstGeom prst="roundRect">
            <a:avLst>
              <a:gd name="adj" fmla="val 6364"/>
            </a:avLst>
          </a:prstGeom>
          <a:solidFill>
            <a:srgbClr val="14532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3550"/>
            <a:ext cx="1600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2647950"/>
            <a:ext cx="1600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69" dirty="0">
                <a:solidFill>
                  <a:srgbClr val="9CC7A9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real participants tested the prototype</a:t>
            </a:r>
            <a:endParaRPr lang="en-US" sz="1169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1600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C7DCC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Participant identities and detailed locations were kept anonymous.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971800" y="1485900"/>
            <a:ext cx="5505450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2E7D5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71800" y="1734503"/>
            <a:ext cx="5505450" cy="349885"/>
          </a:xfrm>
          <a:prstGeom prst="roundRect">
            <a:avLst>
              <a:gd name="adj" fmla="val 21779"/>
            </a:avLst>
          </a:prstGeom>
          <a:solidFill>
            <a:srgbClr val="F1F6F2"/>
          </a:solidFill>
          <a:ln/>
        </p:spPr>
      </p:sp>
      <p:sp>
        <p:nvSpPr>
          <p:cNvPr id="12" name="Shape 10"/>
          <p:cNvSpPr/>
          <p:nvPr/>
        </p:nvSpPr>
        <p:spPr>
          <a:xfrm>
            <a:off x="3124200" y="1734503"/>
            <a:ext cx="57150" cy="57150"/>
          </a:xfrm>
          <a:prstGeom prst="roundRect">
            <a:avLst>
              <a:gd name="adj" fmla="val 50000"/>
            </a:avLst>
          </a:prstGeom>
          <a:solidFill>
            <a:srgbClr val="C2652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5650" y="1734503"/>
            <a:ext cx="5029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8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participants understood the time, cost, and CO₂ comparison.</a:t>
            </a:r>
            <a:endParaRPr lang="en-US" sz="1088" dirty="0"/>
          </a:p>
        </p:txBody>
      </p:sp>
      <p:sp>
        <p:nvSpPr>
          <p:cNvPr id="14" name="Shape 12"/>
          <p:cNvSpPr/>
          <p:nvPr/>
        </p:nvSpPr>
        <p:spPr>
          <a:xfrm>
            <a:off x="2971800" y="2167255"/>
            <a:ext cx="5505450" cy="349885"/>
          </a:xfrm>
          <a:prstGeom prst="roundRect">
            <a:avLst>
              <a:gd name="adj" fmla="val 21779"/>
            </a:avLst>
          </a:prstGeom>
          <a:solidFill>
            <a:srgbClr val="F1F6F2"/>
          </a:solidFill>
          <a:ln/>
        </p:spPr>
      </p:sp>
      <p:sp>
        <p:nvSpPr>
          <p:cNvPr id="15" name="Shape 13"/>
          <p:cNvSpPr/>
          <p:nvPr/>
        </p:nvSpPr>
        <p:spPr>
          <a:xfrm>
            <a:off x="3124200" y="2167255"/>
            <a:ext cx="57150" cy="57150"/>
          </a:xfrm>
          <a:prstGeom prst="roundRect">
            <a:avLst>
              <a:gd name="adj" fmla="val 50000"/>
            </a:avLst>
          </a:prstGeom>
          <a:solidFill>
            <a:srgbClr val="C2652A"/>
          </a:solidFill>
          <a:ln/>
        </p:spPr>
      </p:sp>
      <p:sp>
        <p:nvSpPr>
          <p:cNvPr id="16" name="Text 14"/>
          <p:cNvSpPr/>
          <p:nvPr/>
        </p:nvSpPr>
        <p:spPr>
          <a:xfrm>
            <a:off x="3295650" y="2167255"/>
            <a:ext cx="5029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8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Different people selected different routes based on their own needs.</a:t>
            </a:r>
            <a:endParaRPr lang="en-US" sz="1088" dirty="0"/>
          </a:p>
        </p:txBody>
      </p:sp>
      <p:sp>
        <p:nvSpPr>
          <p:cNvPr id="17" name="Shape 15"/>
          <p:cNvSpPr/>
          <p:nvPr/>
        </p:nvSpPr>
        <p:spPr>
          <a:xfrm>
            <a:off x="2971800" y="2600008"/>
            <a:ext cx="5505450" cy="349885"/>
          </a:xfrm>
          <a:prstGeom prst="roundRect">
            <a:avLst>
              <a:gd name="adj" fmla="val 21779"/>
            </a:avLst>
          </a:prstGeom>
          <a:solidFill>
            <a:srgbClr val="F1F6F2"/>
          </a:solidFill>
          <a:ln/>
        </p:spPr>
      </p:sp>
      <p:sp>
        <p:nvSpPr>
          <p:cNvPr id="18" name="Shape 16"/>
          <p:cNvSpPr/>
          <p:nvPr/>
        </p:nvSpPr>
        <p:spPr>
          <a:xfrm>
            <a:off x="3124200" y="2600008"/>
            <a:ext cx="57150" cy="57150"/>
          </a:xfrm>
          <a:prstGeom prst="roundRect">
            <a:avLst>
              <a:gd name="adj" fmla="val 50000"/>
            </a:avLst>
          </a:prstGeom>
          <a:solidFill>
            <a:srgbClr val="C2652A"/>
          </a:solidFill>
          <a:ln/>
        </p:spPr>
      </p:sp>
      <p:sp>
        <p:nvSpPr>
          <p:cNvPr id="19" name="Text 17"/>
          <p:cNvSpPr/>
          <p:nvPr/>
        </p:nvSpPr>
        <p:spPr>
          <a:xfrm>
            <a:off x="3295650" y="2600008"/>
            <a:ext cx="5029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8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Reliability, delays, safety, weather, and walking distance can override sustainability.</a:t>
            </a:r>
            <a:endParaRPr lang="en-US" sz="1088" dirty="0"/>
          </a:p>
        </p:txBody>
      </p:sp>
      <p:sp>
        <p:nvSpPr>
          <p:cNvPr id="20" name="Shape 18"/>
          <p:cNvSpPr/>
          <p:nvPr/>
        </p:nvSpPr>
        <p:spPr>
          <a:xfrm>
            <a:off x="2971800" y="3032760"/>
            <a:ext cx="5505450" cy="349885"/>
          </a:xfrm>
          <a:prstGeom prst="roundRect">
            <a:avLst>
              <a:gd name="adj" fmla="val 21779"/>
            </a:avLst>
          </a:prstGeom>
          <a:solidFill>
            <a:srgbClr val="F1F6F2"/>
          </a:solidFill>
          <a:ln/>
        </p:spPr>
      </p:sp>
      <p:sp>
        <p:nvSpPr>
          <p:cNvPr id="21" name="Shape 19"/>
          <p:cNvSpPr/>
          <p:nvPr/>
        </p:nvSpPr>
        <p:spPr>
          <a:xfrm>
            <a:off x="3124200" y="303276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2652A"/>
          </a:solidFill>
          <a:ln/>
        </p:spPr>
      </p:sp>
      <p:sp>
        <p:nvSpPr>
          <p:cNvPr id="22" name="Text 20"/>
          <p:cNvSpPr/>
          <p:nvPr/>
        </p:nvSpPr>
        <p:spPr>
          <a:xfrm>
            <a:off x="3295650" y="3032760"/>
            <a:ext cx="5029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8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Participants wanted to know how CO₂ estimates were calculated.</a:t>
            </a:r>
            <a:endParaRPr lang="en-US" sz="1088" dirty="0"/>
          </a:p>
        </p:txBody>
      </p:sp>
      <p:sp>
        <p:nvSpPr>
          <p:cNvPr id="23" name="Shape 21"/>
          <p:cNvSpPr/>
          <p:nvPr/>
        </p:nvSpPr>
        <p:spPr>
          <a:xfrm>
            <a:off x="2971800" y="3465513"/>
            <a:ext cx="5505450" cy="349885"/>
          </a:xfrm>
          <a:prstGeom prst="roundRect">
            <a:avLst>
              <a:gd name="adj" fmla="val 21779"/>
            </a:avLst>
          </a:prstGeom>
          <a:solidFill>
            <a:srgbClr val="F1F6F2"/>
          </a:solidFill>
          <a:ln/>
        </p:spPr>
      </p:sp>
      <p:sp>
        <p:nvSpPr>
          <p:cNvPr id="24" name="Shape 22"/>
          <p:cNvSpPr/>
          <p:nvPr/>
        </p:nvSpPr>
        <p:spPr>
          <a:xfrm>
            <a:off x="3124200" y="3465513"/>
            <a:ext cx="57150" cy="57150"/>
          </a:xfrm>
          <a:prstGeom prst="roundRect">
            <a:avLst>
              <a:gd name="adj" fmla="val 50000"/>
            </a:avLst>
          </a:prstGeom>
          <a:solidFill>
            <a:srgbClr val="C2652A"/>
          </a:solidFill>
          <a:ln/>
        </p:spPr>
      </p:sp>
      <p:sp>
        <p:nvSpPr>
          <p:cNvPr id="25" name="Text 23"/>
          <p:cNvSpPr/>
          <p:nvPr/>
        </p:nvSpPr>
        <p:spPr>
          <a:xfrm>
            <a:off x="3295650" y="3465513"/>
            <a:ext cx="5029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8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Participants wanted clearer explanation of the Balanced option.</a:t>
            </a:r>
            <a:endParaRPr lang="en-US" sz="1088" dirty="0"/>
          </a:p>
        </p:txBody>
      </p:sp>
      <p:sp>
        <p:nvSpPr>
          <p:cNvPr id="26" name="Shape 24"/>
          <p:cNvSpPr/>
          <p:nvPr/>
        </p:nvSpPr>
        <p:spPr>
          <a:xfrm>
            <a:off x="2971800" y="3898265"/>
            <a:ext cx="5505450" cy="349885"/>
          </a:xfrm>
          <a:prstGeom prst="roundRect">
            <a:avLst>
              <a:gd name="adj" fmla="val 21779"/>
            </a:avLst>
          </a:prstGeom>
          <a:solidFill>
            <a:srgbClr val="F1F6F2"/>
          </a:solidFill>
          <a:ln/>
        </p:spPr>
      </p:sp>
      <p:sp>
        <p:nvSpPr>
          <p:cNvPr id="27" name="Shape 25"/>
          <p:cNvSpPr/>
          <p:nvPr/>
        </p:nvSpPr>
        <p:spPr>
          <a:xfrm>
            <a:off x="3124200" y="3898265"/>
            <a:ext cx="57150" cy="57150"/>
          </a:xfrm>
          <a:prstGeom prst="roundRect">
            <a:avLst>
              <a:gd name="adj" fmla="val 50000"/>
            </a:avLst>
          </a:prstGeom>
          <a:solidFill>
            <a:srgbClr val="C2652A"/>
          </a:solidFill>
          <a:ln/>
        </p:spPr>
      </p:sp>
      <p:sp>
        <p:nvSpPr>
          <p:cNvPr id="28" name="Text 26"/>
          <p:cNvSpPr/>
          <p:nvPr/>
        </p:nvSpPr>
        <p:spPr>
          <a:xfrm>
            <a:off x="3295650" y="3898265"/>
            <a:ext cx="5029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8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 expected Walking only when suitable for a short journey.</a:t>
            </a:r>
            <a:endParaRPr lang="en-US" sz="1088" dirty="0"/>
          </a:p>
        </p:txBody>
      </p:sp>
      <p:sp>
        <p:nvSpPr>
          <p:cNvPr id="29" name="Text 27"/>
          <p:cNvSpPr/>
          <p:nvPr/>
        </p:nvSpPr>
        <p:spPr>
          <a:xfrm>
            <a:off x="666750" y="4476750"/>
            <a:ext cx="7810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5B6B6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Qualitative feedback from a small sample; findings are indicative, not statistically representative.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51435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495300"/>
            <a:ext cx="666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C2652A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07 — PROTOTYPE ITERATION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23900"/>
            <a:ext cx="666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92" b="1" dirty="0">
                <a:solidFill>
                  <a:srgbClr val="145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Prototype Improved Through User Feedback</a:t>
            </a:r>
            <a:endParaRPr lang="en-US" sz="2292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7810500" cy="0"/>
          </a:xfrm>
          <a:prstGeom prst="line">
            <a:avLst/>
          </a:prstGeom>
          <a:noFill/>
          <a:ln w="9525">
            <a:solidFill>
              <a:srgbClr val="DCE5D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66750" y="1485900"/>
            <a:ext cx="428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2E7D5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CHANGES MADE AFTER TESTING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6750" y="1733550"/>
            <a:ext cx="428625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71438" indent="-71438" algn="l">
              <a:lnSpc>
                <a:spcPts val="1800"/>
              </a:lnSpc>
              <a:buSzPct val="100000"/>
              <a:buChar char="•"/>
            </a:pPr>
            <a:r>
              <a:rPr lang="en-US" sz="1125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Added Walking as an option for nearby journeys.</a:t>
            </a:r>
            <a:endParaRPr lang="en-US" sz="1125" dirty="0"/>
          </a:p>
          <a:p>
            <a:pPr marL="71438" indent="-71438" algn="l">
              <a:lnSpc>
                <a:spcPts val="1800"/>
              </a:lnSpc>
              <a:buSzPct val="100000"/>
              <a:buChar char="•"/>
            </a:pPr>
            <a:r>
              <a:rPr lang="en-US" sz="1125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Explained the Balanced priority.</a:t>
            </a:r>
            <a:endParaRPr lang="en-US" sz="1125" dirty="0"/>
          </a:p>
          <a:p>
            <a:pPr marL="71438" indent="-71438" algn="l">
              <a:lnSpc>
                <a:spcPts val="1800"/>
              </a:lnSpc>
              <a:buSzPct val="100000"/>
              <a:buChar char="•"/>
            </a:pPr>
            <a:r>
              <a:rPr lang="en-US" sz="1125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Added route trade-offs.</a:t>
            </a:r>
            <a:endParaRPr lang="en-US" sz="1125" dirty="0"/>
          </a:p>
          <a:p>
            <a:pPr marL="71438" indent="-71438" algn="l">
              <a:lnSpc>
                <a:spcPts val="1800"/>
              </a:lnSpc>
              <a:buSzPct val="100000"/>
              <a:buChar char="•"/>
            </a:pPr>
            <a:r>
              <a:rPr lang="en-US" sz="1125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Added arrival time, distance, walking distance, transfers, and reliability.</a:t>
            </a:r>
            <a:endParaRPr lang="en-US" sz="1125" dirty="0"/>
          </a:p>
          <a:p>
            <a:pPr marL="71438" indent="-71438" algn="l">
              <a:lnSpc>
                <a:spcPts val="1800"/>
              </a:lnSpc>
              <a:buSzPct val="100000"/>
              <a:buChar char="•"/>
            </a:pPr>
            <a:r>
              <a:rPr lang="en-US" sz="1125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Added safety, weather, and availability notes.</a:t>
            </a:r>
            <a:endParaRPr lang="en-US" sz="1125" dirty="0"/>
          </a:p>
          <a:p>
            <a:pPr marL="71438" indent="-71438" algn="l">
              <a:lnSpc>
                <a:spcPts val="1800"/>
              </a:lnSpc>
              <a:buSzPct val="100000"/>
              <a:buChar char="•"/>
            </a:pPr>
            <a:r>
              <a:rPr lang="en-US" sz="1125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Added “How estimates work” and example-data transparency.</a:t>
            </a:r>
            <a:endParaRPr lang="en-US" sz="1125" dirty="0"/>
          </a:p>
          <a:p>
            <a:pPr marL="71438" indent="-71438" algn="l">
              <a:lnSpc>
                <a:spcPts val="1800"/>
              </a:lnSpc>
              <a:buSzPct val="100000"/>
              <a:buChar char="•"/>
            </a:pPr>
            <a:r>
              <a:rPr lang="en-US" sz="1125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Prevented Walking from being recommended for an impractically long journey.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5200650" y="1447800"/>
            <a:ext cx="3276600" cy="3390900"/>
          </a:xfrm>
          <a:prstGeom prst="roundRect">
            <a:avLst>
              <a:gd name="adj" fmla="val 3488"/>
            </a:avLst>
          </a:prstGeom>
          <a:solidFill>
            <a:srgbClr val="F1F6F2"/>
          </a:solidFill>
          <a:ln w="9525">
            <a:solidFill>
              <a:srgbClr val="CFE0D4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01490" y="1562100"/>
            <a:ext cx="2674919" cy="2895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14950" y="4514850"/>
            <a:ext cx="3048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GreenRoute AI — Iterated Prototype After User Testing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51435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43815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C2652A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08 — WORKING MVP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647700"/>
            <a:ext cx="666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45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GreenRoute AI MVP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666750" y="1143000"/>
            <a:ext cx="7810500" cy="0"/>
          </a:xfrm>
          <a:prstGeom prst="line">
            <a:avLst/>
          </a:prstGeom>
          <a:noFill/>
          <a:ln w="9525">
            <a:solidFill>
              <a:srgbClr val="DCE5D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66750" y="135255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2E7D5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BUILT WITH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6750" y="1600200"/>
            <a:ext cx="838200" cy="32385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581150" y="1600200"/>
            <a:ext cx="838200" cy="32385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CSS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2495550" y="160020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JavaScript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66750" y="20193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5B6B6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Transparent example route data.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66750" y="230505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2E7D5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USERS CAN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6750" y="255270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6675" indent="-66675" algn="l">
              <a:lnSpc>
                <a:spcPts val="1628"/>
              </a:lnSpc>
              <a:buSzPct val="100000"/>
              <a:buChar char="•"/>
            </a:pPr>
            <a:r>
              <a:rPr lang="en-US" sz="1050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Enter a starting point and destination.</a:t>
            </a:r>
            <a:endParaRPr lang="en-US" sz="1050" dirty="0"/>
          </a:p>
          <a:p>
            <a:pPr marL="66675" indent="-66675" algn="l">
              <a:lnSpc>
                <a:spcPts val="1628"/>
              </a:lnSpc>
              <a:buSzPct val="100000"/>
              <a:buChar char="•"/>
            </a:pPr>
            <a:r>
              <a:rPr lang="en-US" sz="1050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Select Fastest, Cheapest, Greenest, or Balanced.</a:t>
            </a:r>
            <a:endParaRPr lang="en-US" sz="1050" dirty="0"/>
          </a:p>
          <a:p>
            <a:pPr marL="66675" indent="-66675" algn="l">
              <a:lnSpc>
                <a:spcPts val="1628"/>
              </a:lnSpc>
              <a:buSzPct val="100000"/>
              <a:buChar char="•"/>
            </a:pPr>
            <a:r>
              <a:rPr lang="en-US" sz="1050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 Public Transport, Metro + Walk, Private Ride, and Walking.</a:t>
            </a:r>
            <a:endParaRPr lang="en-US" sz="1050" dirty="0"/>
          </a:p>
          <a:p>
            <a:pPr marL="66675" indent="-66675" algn="l">
              <a:lnSpc>
                <a:spcPts val="1628"/>
              </a:lnSpc>
              <a:buSzPct val="100000"/>
              <a:buChar char="•"/>
            </a:pPr>
            <a:r>
              <a:rPr lang="en-US" sz="1050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View time, cost, estimated CO₂, reliability, walking distance, transfers, and trade-offs.</a:t>
            </a:r>
            <a:endParaRPr lang="en-US" sz="1050" dirty="0"/>
          </a:p>
          <a:p>
            <a:pPr marL="66675" indent="-66675" algn="l">
              <a:lnSpc>
                <a:spcPts val="1628"/>
              </a:lnSpc>
              <a:buSzPct val="100000"/>
              <a:buChar char="•"/>
            </a:pPr>
            <a:r>
              <a:rPr lang="en-US" sz="1050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 an explanation of the recommendation.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90950" y="1352550"/>
            <a:ext cx="2286000" cy="3238500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 w="9525">
            <a:solidFill>
              <a:srgbClr val="CFE0D4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86200" y="1887773"/>
            <a:ext cx="2095500" cy="188230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886200" y="426720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Fastest priority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91250" y="1352550"/>
            <a:ext cx="2286000" cy="3238500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 w="9525">
            <a:solidFill>
              <a:srgbClr val="CFE0D4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0" y="1830924"/>
            <a:ext cx="2095500" cy="199600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286500" y="426720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Balanced priority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66750" y="4743450"/>
            <a:ext cx="781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 estimates shown in the interface — not live transport data.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51435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43815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C2652A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09 — DECISION LOGIC AND RESPONSIBLE AI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647700"/>
            <a:ext cx="666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45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Explainable Recommendations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666750" y="1143000"/>
            <a:ext cx="7810500" cy="0"/>
          </a:xfrm>
          <a:prstGeom prst="line">
            <a:avLst/>
          </a:prstGeom>
          <a:noFill/>
          <a:ln w="9525">
            <a:solidFill>
              <a:srgbClr val="DCE5D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66750" y="1276350"/>
            <a:ext cx="7810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6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MVP uses transparent priority-based decision logic.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66750" y="1581150"/>
            <a:ext cx="4667250" cy="628650"/>
          </a:xfrm>
          <a:prstGeom prst="roundRect">
            <a:avLst>
              <a:gd name="adj" fmla="val 15152"/>
            </a:avLst>
          </a:prstGeom>
          <a:solidFill>
            <a:srgbClr val="F1F6F2"/>
          </a:solidFill>
          <a:ln/>
        </p:spPr>
      </p:sp>
      <p:sp>
        <p:nvSpPr>
          <p:cNvPr id="8" name="Text 6"/>
          <p:cNvSpPr/>
          <p:nvPr/>
        </p:nvSpPr>
        <p:spPr>
          <a:xfrm>
            <a:off x="819150" y="1695450"/>
            <a:ext cx="4362450" cy="1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14532D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Fastest → Private Ride</a:t>
            </a:r>
            <a:endParaRPr lang="en-US" sz="1010" dirty="0"/>
          </a:p>
        </p:txBody>
      </p:sp>
      <p:sp>
        <p:nvSpPr>
          <p:cNvPr id="9" name="Text 7"/>
          <p:cNvSpPr/>
          <p:nvPr/>
        </p:nvSpPr>
        <p:spPr>
          <a:xfrm>
            <a:off x="819150" y="1864702"/>
            <a:ext cx="4362450" cy="230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346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Recommended because it has the shortest estimated travel time.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666750" y="2305050"/>
            <a:ext cx="4667250" cy="628650"/>
          </a:xfrm>
          <a:prstGeom prst="roundRect">
            <a:avLst>
              <a:gd name="adj" fmla="val 15152"/>
            </a:avLst>
          </a:prstGeom>
          <a:solidFill>
            <a:srgbClr val="F1F6F2"/>
          </a:solidFill>
          <a:ln/>
        </p:spPr>
      </p:sp>
      <p:sp>
        <p:nvSpPr>
          <p:cNvPr id="11" name="Text 9"/>
          <p:cNvSpPr/>
          <p:nvPr/>
        </p:nvSpPr>
        <p:spPr>
          <a:xfrm>
            <a:off x="819150" y="2419350"/>
            <a:ext cx="4362450" cy="1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14532D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Cheapest → Public Transport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819150" y="2588602"/>
            <a:ext cx="4362450" cy="230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346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Lowest practical-cost option for the long example journey.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66750" y="3028950"/>
            <a:ext cx="4667250" cy="628650"/>
          </a:xfrm>
          <a:prstGeom prst="roundRect">
            <a:avLst>
              <a:gd name="adj" fmla="val 15152"/>
            </a:avLst>
          </a:prstGeom>
          <a:solidFill>
            <a:srgbClr val="F1F6F2"/>
          </a:solidFill>
          <a:ln/>
        </p:spPr>
      </p:sp>
      <p:sp>
        <p:nvSpPr>
          <p:cNvPr id="14" name="Text 12"/>
          <p:cNvSpPr/>
          <p:nvPr/>
        </p:nvSpPr>
        <p:spPr>
          <a:xfrm>
            <a:off x="819150" y="3143250"/>
            <a:ext cx="4362450" cy="1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14532D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Greenest → Public Transport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819150" y="3312502"/>
            <a:ext cx="4362450" cy="230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346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Lowest practical-emission option for the long example journey.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666750" y="3752850"/>
            <a:ext cx="4667250" cy="628650"/>
          </a:xfrm>
          <a:prstGeom prst="roundRect">
            <a:avLst>
              <a:gd name="adj" fmla="val 15152"/>
            </a:avLst>
          </a:prstGeom>
          <a:solidFill>
            <a:srgbClr val="14532D"/>
          </a:solidFill>
          <a:ln/>
        </p:spPr>
      </p:sp>
      <p:sp>
        <p:nvSpPr>
          <p:cNvPr id="17" name="Text 15"/>
          <p:cNvSpPr/>
          <p:nvPr/>
        </p:nvSpPr>
        <p:spPr>
          <a:xfrm>
            <a:off x="819150" y="3867150"/>
            <a:ext cx="4362450" cy="1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Balanced → Metro + Walk</a:t>
            </a:r>
            <a:endParaRPr lang="en-US" sz="1010" dirty="0"/>
          </a:p>
        </p:txBody>
      </p:sp>
      <p:sp>
        <p:nvSpPr>
          <p:cNvPr id="18" name="Text 16"/>
          <p:cNvSpPr/>
          <p:nvPr/>
        </p:nvSpPr>
        <p:spPr>
          <a:xfrm>
            <a:off x="819150" y="4036402"/>
            <a:ext cx="4362450" cy="230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DDEB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Balances travel time, cost, and lower estimated emissions.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5600700" y="1581150"/>
            <a:ext cx="2876550" cy="2857500"/>
          </a:xfrm>
          <a:prstGeom prst="roundRect">
            <a:avLst>
              <a:gd name="adj" fmla="val 4000"/>
            </a:avLst>
          </a:prstGeom>
          <a:solidFill>
            <a:srgbClr val="FDF3EC"/>
          </a:solidFill>
          <a:ln/>
        </p:spPr>
      </p:sp>
      <p:sp>
        <p:nvSpPr>
          <p:cNvPr id="20" name="Text 18"/>
          <p:cNvSpPr/>
          <p:nvPr/>
        </p:nvSpPr>
        <p:spPr>
          <a:xfrm>
            <a:off x="5810250" y="1790700"/>
            <a:ext cx="2457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C265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RESPONSIBLE-AI SAFEGUARDS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10250" y="2038350"/>
            <a:ext cx="24574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1913" indent="-61913" algn="l">
              <a:lnSpc>
                <a:spcPts val="1463"/>
              </a:lnSpc>
              <a:buSzPct val="100000"/>
              <a:buChar char="•"/>
            </a:pPr>
            <a:r>
              <a:rPr lang="en-US" sz="975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 estimates only, not live transport data.</a:t>
            </a:r>
            <a:endParaRPr lang="en-US" sz="975" dirty="0"/>
          </a:p>
          <a:p>
            <a:pPr marL="61913" indent="-61913" algn="l">
              <a:lnSpc>
                <a:spcPts val="1463"/>
              </a:lnSpc>
              <a:buSzPct val="100000"/>
              <a:buChar char="•"/>
            </a:pPr>
            <a:r>
              <a:rPr lang="en-US" sz="975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CO₂ values are estimates, not exact facts.</a:t>
            </a:r>
            <a:endParaRPr lang="en-US" sz="975" dirty="0"/>
          </a:p>
          <a:p>
            <a:pPr marL="61913" indent="-61913" algn="l">
              <a:lnSpc>
                <a:spcPts val="1463"/>
              </a:lnSpc>
              <a:buSzPct val="100000"/>
              <a:buChar char="•"/>
            </a:pPr>
            <a:r>
              <a:rPr lang="en-US" sz="975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 see alternative routes and trade-offs.</a:t>
            </a:r>
            <a:endParaRPr lang="en-US" sz="975" dirty="0"/>
          </a:p>
          <a:p>
            <a:pPr marL="61913" indent="-61913" algn="l">
              <a:lnSpc>
                <a:spcPts val="1463"/>
              </a:lnSpc>
              <a:buSzPct val="100000"/>
              <a:buChar char="•"/>
            </a:pPr>
            <a:r>
              <a:rPr lang="en-US" sz="975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Walking is not recommended when the distance is impractical.</a:t>
            </a:r>
            <a:endParaRPr lang="en-US" sz="975" dirty="0"/>
          </a:p>
          <a:p>
            <a:pPr marL="61913" indent="-61913" algn="l">
              <a:lnSpc>
                <a:spcPts val="1463"/>
              </a:lnSpc>
              <a:buSzPct val="100000"/>
              <a:buChar char="•"/>
            </a:pPr>
            <a:r>
              <a:rPr lang="en-US" sz="975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Safety, accessibility, weather, and local conditions remain important.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600700" y="4572000"/>
            <a:ext cx="2876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9" dirty="0">
                <a:solidFill>
                  <a:srgbClr val="5B6B6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Greenest also shows a lower-CO₂ Walking card for reference.</a:t>
            </a:r>
            <a:endParaRPr lang="en-US" sz="89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51435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400050"/>
            <a:ext cx="666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5" kern="0" spc="150" dirty="0">
                <a:solidFill>
                  <a:srgbClr val="C2652A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10 — IBM BOB, RESULTS, AND NEXT STEPS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609600"/>
            <a:ext cx="666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4532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Project Outcome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666750" y="1104900"/>
            <a:ext cx="7810500" cy="0"/>
          </a:xfrm>
          <a:prstGeom prst="line">
            <a:avLst/>
          </a:prstGeom>
          <a:noFill/>
          <a:ln w="9525">
            <a:solidFill>
              <a:srgbClr val="DCE5D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66750" y="129540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2E7D5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IBM BOB WAS USED TO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6750" y="1524000"/>
            <a:ext cx="2857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6675" indent="-66675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 and organize the first MVP files.</a:t>
            </a:r>
            <a:endParaRPr lang="en-US" sz="1050" dirty="0"/>
          </a:p>
          <a:p>
            <a:pPr marL="66675" indent="-66675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code for accessibility and usability issues.</a:t>
            </a:r>
            <a:endParaRPr lang="en-US" sz="1050" dirty="0"/>
          </a:p>
          <a:p>
            <a:pPr marL="66675" indent="-66675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ARIA states, text contrast, and keyboard navigation order.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71900" y="1295400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2E7D5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71900" y="1524000"/>
            <a:ext cx="2095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6580" indent="-66580" algn="l">
              <a:lnSpc>
                <a:spcPts val="1573"/>
              </a:lnSpc>
              <a:buSzPct val="100000"/>
              <a:buChar char="•"/>
            </a:pPr>
            <a:r>
              <a:rPr lang="en-US" sz="1049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verified local route and fare data.</a:t>
            </a:r>
            <a:endParaRPr lang="en-US" sz="1049" dirty="0"/>
          </a:p>
          <a:p>
            <a:pPr marL="66580" indent="-66580" algn="l">
              <a:lnSpc>
                <a:spcPts val="1573"/>
              </a:lnSpc>
              <a:buSzPct val="100000"/>
              <a:buChar char="•"/>
            </a:pPr>
            <a:r>
              <a:rPr lang="en-US" sz="1049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live delay and availability information.</a:t>
            </a:r>
            <a:endParaRPr lang="en-US" sz="1049" dirty="0"/>
          </a:p>
          <a:p>
            <a:pPr marL="66580" indent="-66580" algn="l">
              <a:lnSpc>
                <a:spcPts val="1573"/>
              </a:lnSpc>
              <a:buSzPct val="100000"/>
              <a:buChar char="•"/>
            </a:pPr>
            <a:r>
              <a:rPr lang="en-US" sz="1049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distance-aware Walking recommendations.</a:t>
            </a:r>
            <a:endParaRPr lang="en-US" sz="1049" dirty="0"/>
          </a:p>
          <a:p>
            <a:pPr marL="66580" indent="-66580" algn="l">
              <a:lnSpc>
                <a:spcPts val="1573"/>
              </a:lnSpc>
              <a:buSzPct val="100000"/>
              <a:buChar char="•"/>
            </a:pPr>
            <a:r>
              <a:rPr lang="en-US" sz="1049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with a larger commuter group.</a:t>
            </a:r>
            <a:endParaRPr lang="en-US" sz="1049" dirty="0"/>
          </a:p>
        </p:txBody>
      </p:sp>
      <p:sp>
        <p:nvSpPr>
          <p:cNvPr id="10" name="Shape 8"/>
          <p:cNvSpPr/>
          <p:nvPr/>
        </p:nvSpPr>
        <p:spPr>
          <a:xfrm>
            <a:off x="6096000" y="1238250"/>
            <a:ext cx="2381250" cy="2762250"/>
          </a:xfrm>
          <a:prstGeom prst="roundRect">
            <a:avLst>
              <a:gd name="adj" fmla="val 4800"/>
            </a:avLst>
          </a:prstGeom>
          <a:solidFill>
            <a:srgbClr val="F1F6F2"/>
          </a:solidFill>
          <a:ln w="9525">
            <a:solidFill>
              <a:srgbClr val="CFE0D4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97413" y="1333500"/>
            <a:ext cx="2178424" cy="2286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191250" y="3676650"/>
            <a:ext cx="2190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3" dirty="0">
                <a:solidFill>
                  <a:srgbClr val="5B6B6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IBM Bob accessibility code review</a:t>
            </a:r>
            <a:endParaRPr lang="en-US" sz="863" dirty="0"/>
          </a:p>
        </p:txBody>
      </p:sp>
      <p:sp>
        <p:nvSpPr>
          <p:cNvPr id="13" name="Shape 10"/>
          <p:cNvSpPr/>
          <p:nvPr/>
        </p:nvSpPr>
        <p:spPr>
          <a:xfrm>
            <a:off x="666750" y="3276600"/>
            <a:ext cx="5200650" cy="723900"/>
          </a:xfrm>
          <a:prstGeom prst="roundRect">
            <a:avLst>
              <a:gd name="adj" fmla="val 15789"/>
            </a:avLst>
          </a:prstGeom>
          <a:solidFill>
            <a:srgbClr val="FDF3EC"/>
          </a:solidFill>
          <a:ln/>
        </p:spPr>
      </p:sp>
      <p:sp>
        <p:nvSpPr>
          <p:cNvPr id="14" name="Text 11"/>
          <p:cNvSpPr/>
          <p:nvPr/>
        </p:nvSpPr>
        <p:spPr>
          <a:xfrm>
            <a:off x="857250" y="3429000"/>
            <a:ext cx="4819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C2652A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PROJECT OUTCOME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57250" y="3638550"/>
            <a:ext cx="48196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F1A1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GreenRoute AI demonstrates a working, explainable, sustainability-focused travel decision-support MVP.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66750" y="4191000"/>
            <a:ext cx="7810500" cy="628650"/>
          </a:xfrm>
          <a:prstGeom prst="roundRect">
            <a:avLst>
              <a:gd name="adj" fmla="val 18182"/>
            </a:avLst>
          </a:prstGeom>
          <a:solidFill>
            <a:srgbClr val="14532D"/>
          </a:solidFill>
          <a:ln/>
        </p:spPr>
      </p:sp>
      <p:sp>
        <p:nvSpPr>
          <p:cNvPr id="17" name="Text 14"/>
          <p:cNvSpPr/>
          <p:nvPr/>
        </p:nvSpPr>
        <p:spPr>
          <a:xfrm>
            <a:off x="895350" y="4343400"/>
            <a:ext cx="7353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GreenRoute AI helps users make informed travel choices by showing both sustainability impact and real-world trade-offs.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</Words>
  <Application>Microsoft Office PowerPoint</Application>
  <PresentationFormat>On-screen Show (16:9)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Sora SemiBold</vt:lpstr>
      <vt:lpstr>Source Sans 3 SemiBold</vt:lpstr>
      <vt:lpstr>Sora</vt:lpstr>
      <vt:lpstr>Source Sans 3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Arman Gaurav</cp:lastModifiedBy>
  <cp:revision>2</cp:revision>
  <dcterms:created xsi:type="dcterms:W3CDTF">2026-09-05T07:40:17Z</dcterms:created>
  <dcterms:modified xsi:type="dcterms:W3CDTF">2026-09-05T22:31:36Z</dcterms:modified>
</cp:coreProperties>
</file>